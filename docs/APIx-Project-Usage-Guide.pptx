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502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3246120" cy="310896"/>
          </a:xfrm>
          <a:prstGeom prst="roundRect">
            <a:avLst>
              <a:gd name="adj" fmla="val 12000"/>
            </a:avLst>
          </a:prstGeom>
          <a:solidFill>
            <a:srgbClr val="12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3796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9DE8E8"/>
                </a:solidFill>
                <a:latin typeface="Aptos"/>
              </a:rPr>
              <a:t>SIH 2026  •  PS SIH26056  •  MoSPI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731520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Aptos"/>
              </a:rPr>
              <a:t>APIx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40280"/>
            <a:ext cx="9601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D9EAFE"/>
                </a:solidFill>
                <a:latin typeface="Aptos"/>
              </a:rPr>
              <a:t>Real-Time Airfare Price Index for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80360"/>
            <a:ext cx="768096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9C9DC"/>
                </a:solidFill>
                <a:latin typeface="Aptos"/>
              </a:rPr>
              <a:t>System built, live setup completed, and how to operate it — including why a
collection row can read denied / policy_denied / live without being a failure.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069080"/>
            <a:ext cx="2011680" cy="310896"/>
          </a:xfrm>
          <a:prstGeom prst="roundRect">
            <a:avLst>
              <a:gd name="adj" fmla="val 12000"/>
            </a:avLst>
          </a:prstGeom>
          <a:solidFill>
            <a:srgbClr val="12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08279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A6A6"/>
                </a:solidFill>
                <a:latin typeface="Aptos"/>
              </a:rPr>
              <a:t>Compliance-first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7208" y="4069080"/>
            <a:ext cx="2011680" cy="310896"/>
          </a:xfrm>
          <a:prstGeom prst="roundRect">
            <a:avLst>
              <a:gd name="adj" fmla="val 12000"/>
            </a:avLst>
          </a:prstGeom>
          <a:solidFill>
            <a:srgbClr val="12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8" y="408279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473E6"/>
                </a:solidFill>
                <a:latin typeface="Aptos"/>
              </a:rPr>
              <a:t>Live + mock isolated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6048" y="4069080"/>
            <a:ext cx="2011680" cy="310896"/>
          </a:xfrm>
          <a:prstGeom prst="roundRect">
            <a:avLst>
              <a:gd name="adj" fmla="val 12000"/>
            </a:avLst>
          </a:prstGeom>
          <a:solidFill>
            <a:srgbClr val="12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56048" y="408279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Honest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989320"/>
            <a:ext cx="6858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EA6C0"/>
                </a:solidFill>
                <a:latin typeface="Consolas"/>
              </a:rPr>
              <a:t>Companion: docs/APIx-Project-Usage-Guide.md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55080"/>
            <a:ext cx="2926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EA6C0"/>
                </a:solidFill>
                <a:latin typeface="Aptos"/>
              </a:rPr>
              <a:t>20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749807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A6A6"/>
                </a:solidFill>
                <a:latin typeface="Aptos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493776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B1F3A"/>
                </a:solidFill>
                <a:latin typeface="Aptos"/>
              </a:rPr>
              <a:t>Problem statement and what APIx delivers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15568"/>
            <a:ext cx="658368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4937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18096"/>
                </a:solidFill>
                <a:latin typeface="Aptos"/>
              </a:rPr>
              <a:t>APIx • SIH26056 • 20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18096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371600"/>
            <a:ext cx="548640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371600"/>
            <a:ext cx="64008" cy="4754880"/>
          </a:xfrm>
          <a:prstGeom prst="roundRect">
            <a:avLst>
              <a:gd name="adj" fmla="val 12000"/>
            </a:avLst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17904"/>
            <a:ext cx="513892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SIH26056 asks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938528"/>
            <a:ext cx="5138928" cy="40782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26174"/>
                </a:solidFill>
                <a:latin typeface="Aptos"/>
              </a:rPr>
              <a:t>A near-real-time airfare price index for India: scrape permitted airline/OTA fares, clean and normalise them, compute APIx at daily / weekly / monthly frequencies for city-pairs and T+1/7/15/30/45, expose a dashboard and NSO/RBI API, and support a 30-day DGCA back-test.
Hard constraint: no CAPTCHA solving, stealth, auth bypass, rotate-on-block, or robots circumvention. Blocked sources are recorded; another permitted source may be chosen. Fares are never fabricated.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5349240" cy="4754880"/>
          </a:xfrm>
          <a:prstGeom prst="roundRect">
            <a:avLst>
              <a:gd name="adj" fmla="val 12000"/>
            </a:avLst>
          </a:prstGeom>
          <a:solidFill>
            <a:srgbClr val="E6F7F7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371600"/>
            <a:ext cx="64008" cy="4754880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517904"/>
            <a:ext cx="50017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What this repository 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1938528"/>
            <a:ext cx="5001768" cy="40782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26174"/>
                </a:solidFill>
                <a:latin typeface="Aptos"/>
              </a:rPr>
              <a:t>A greenfield platform at the repo root. Team_Tarang_SIH-26-main is reference-only and is not imported.
Governed collectors, immutable ledger, versioned APIx-T engine, authenticated /v1 APIs, React operator dashboard, Docker mock + live overlay, and a live EaseMyTrip demonstration cell — with mock always labelled simulated and never mixed into a live series.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749807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A6A6"/>
                </a:solidFill>
                <a:latin typeface="Aptos"/>
              </a:rPr>
              <a:t>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493776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B1F3A"/>
                </a:solidFill>
                <a:latin typeface="Aptos"/>
              </a:rPr>
              <a:t>Setup completed — working inventory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15568"/>
            <a:ext cx="658368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4937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18096"/>
                </a:solidFill>
                <a:latin typeface="Aptos"/>
              </a:rPr>
              <a:t>APIx • SIH26056 • 20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18096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371600"/>
            <a:ext cx="361188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371600"/>
            <a:ext cx="64008" cy="2148840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17904"/>
            <a:ext cx="326440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Acquisition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938528"/>
            <a:ext cx="3264408" cy="1472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26174"/>
                </a:solidFill>
                <a:latin typeface="Aptos"/>
              </a:rPr>
              <a:t>Governor, registry, waterfall adapters, identified Playwright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371600"/>
            <a:ext cx="361188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9976" y="1371600"/>
            <a:ext cx="64008" cy="2148840"/>
          </a:xfrm>
          <a:prstGeom prst="roundRect">
            <a:avLst>
              <a:gd name="adj" fmla="val 12000"/>
            </a:avLst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1517904"/>
            <a:ext cx="326440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1938528"/>
            <a:ext cx="3264408" cy="1472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26174"/>
                </a:solidFill>
                <a:latin typeface="Aptos"/>
              </a:rPr>
              <a:t>7 airlines, 6 OTAs, isolated mock; EaseMyTrip approved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371600"/>
            <a:ext cx="361188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74736" y="1371600"/>
            <a:ext cx="64008" cy="214884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1517904"/>
            <a:ext cx="326440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Ledger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1938528"/>
            <a:ext cx="3264408" cy="1472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26174"/>
                </a:solidFill>
                <a:latin typeface="Aptos"/>
              </a:rPr>
              <a:t>SHA-256 provenance, supersedes_id, immutability guards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" y="3703320"/>
            <a:ext cx="361188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85216" y="3703320"/>
            <a:ext cx="64008" cy="214884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849624"/>
            <a:ext cx="326440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Index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270248"/>
            <a:ext cx="3264408" cy="1472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26174"/>
                </a:solidFill>
                <a:latin typeface="Aptos"/>
              </a:rPr>
              <a:t>Decimal Jevons + availability + Young; method v1.0.0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9976" y="3703320"/>
            <a:ext cx="361188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79976" y="3703320"/>
            <a:ext cx="64008" cy="214884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81144" y="3849624"/>
            <a:ext cx="326440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Workers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1144" y="4270248"/>
            <a:ext cx="3264408" cy="1472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26174"/>
                </a:solidFill>
                <a:latin typeface="Aptos"/>
              </a:rPr>
              <a:t>Scheduler, SKIP LOCKED collector, publisher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74736" y="3703320"/>
            <a:ext cx="361188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74736" y="3703320"/>
            <a:ext cx="64008" cy="2148840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75904" y="3849624"/>
            <a:ext cx="326440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Dashboard +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4270248"/>
            <a:ext cx="3264408" cy="1472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26174"/>
                </a:solidFill>
                <a:latin typeface="Aptos"/>
              </a:rPr>
              <a:t>Eight operator pages; JSON / CSV / SDMX-JSON /v1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749807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A6A6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493776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B1F3A"/>
                </a:solidFill>
                <a:latin typeface="Aptos"/>
              </a:rPr>
              <a:t>End-to-end path: query to published APIx-T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15568"/>
            <a:ext cx="658368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4937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18096"/>
                </a:solidFill>
                <a:latin typeface="Aptos"/>
              </a:rPr>
              <a:t>APIx • SIH26056 • 20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18096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1810512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" y="1554480"/>
            <a:ext cx="365760" cy="310896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5681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993392"/>
            <a:ext cx="1600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tos"/>
              </a:rPr>
              <a:t>FareQuery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331720"/>
            <a:ext cx="16002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26174"/>
                </a:solidFill>
                <a:latin typeface="Aptos"/>
              </a:rPr>
              <a:t>City-pair, T+ window, 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41448" y="1417320"/>
            <a:ext cx="1810512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51176" y="1554480"/>
            <a:ext cx="365760" cy="310896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51176" y="15681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1176" y="1993392"/>
            <a:ext cx="1600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tos"/>
              </a:rPr>
              <a:t>Governor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1176" y="2331720"/>
            <a:ext cx="16002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26174"/>
                </a:solidFill>
                <a:latin typeface="Aptos"/>
              </a:rPr>
              <a:t>ALLOW / DENY /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9976" y="1417320"/>
            <a:ext cx="1810512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89704" y="1554480"/>
            <a:ext cx="365760" cy="310896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9704" y="15681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1993392"/>
            <a:ext cx="1600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tos"/>
              </a:rPr>
              <a:t>Collectors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9704" y="2331720"/>
            <a:ext cx="16002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26174"/>
                </a:solidFill>
                <a:latin typeface="Aptos"/>
              </a:rPr>
              <a:t>HTTP then Playwright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18504" y="1417320"/>
            <a:ext cx="1810512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28232" y="1554480"/>
            <a:ext cx="365760" cy="310896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15681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1993392"/>
            <a:ext cx="1600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tos"/>
              </a:rPr>
              <a:t>Ledger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2331720"/>
            <a:ext cx="16002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26174"/>
                </a:solidFill>
                <a:latin typeface="Aptos"/>
              </a:rPr>
              <a:t>Immutable + hashes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57032" y="1417320"/>
            <a:ext cx="1810512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66760" y="1554480"/>
            <a:ext cx="365760" cy="310896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15681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1993392"/>
            <a:ext cx="1600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tos"/>
              </a:rPr>
              <a:t>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331720"/>
            <a:ext cx="16002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26174"/>
                </a:solidFill>
                <a:latin typeface="Aptos"/>
              </a:rPr>
              <a:t>ACCEPTED / WINSORISED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95560" y="1417320"/>
            <a:ext cx="1810512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305288" y="1554480"/>
            <a:ext cx="365760" cy="310896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05288" y="15681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05288" y="1993392"/>
            <a:ext cx="1600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tos"/>
              </a:rPr>
              <a:t>Engine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05288" y="2331720"/>
            <a:ext cx="16002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26174"/>
                </a:solidFill>
                <a:latin typeface="Aptos"/>
              </a:rPr>
              <a:t>Jevons → Young → APIx-T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5216" y="3337560"/>
            <a:ext cx="11018520" cy="2788920"/>
          </a:xfrm>
          <a:prstGeom prst="roundRect">
            <a:avLst>
              <a:gd name="adj" fmla="val 12000"/>
            </a:avLst>
          </a:prstGeom>
          <a:solidFill>
            <a:srgbClr val="FFF6E5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85216" y="3337560"/>
            <a:ext cx="64008" cy="278892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" y="3483864"/>
            <a:ext cx="10671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Rules that never bend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" y="3904488"/>
            <a:ext cx="10671048" cy="2112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26174"/>
                </a:solidFill>
                <a:latin typeface="Aptos"/>
              </a:rPr>
              <a:t>First published period is 100. Unmatched basket cells are suppressed, not imputed. Late entrants are not chain-linked. Coverage is reported honestly (one DEL–BOM T+7 cell of a 5×5 basket is ~24%). Mock quotes never enter a live publication. 403 / CAPTCHA / policy denial stop that source — no IP rotation, no CAPTCHA solver, no User-Agent spoofing.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749807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A6A6"/>
                </a:solidFill>
                <a:latin typeface="Aptos"/>
              </a:rPr>
              <a:t>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493776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B1F3A"/>
                </a:solidFill>
                <a:latin typeface="Aptos"/>
              </a:rPr>
              <a:t>Compliance governor — fail closed before any fetch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15568"/>
            <a:ext cx="658368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4937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18096"/>
                </a:solidFill>
                <a:latin typeface="Aptos"/>
              </a:rPr>
              <a:t>APIx • SIH26056 • 20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18096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371600"/>
            <a:ext cx="3703320" cy="4754880"/>
          </a:xfrm>
          <a:prstGeom prst="roundRect">
            <a:avLst>
              <a:gd name="adj" fmla="val 12000"/>
            </a:avLst>
          </a:prstGeom>
          <a:solidFill>
            <a:srgbClr val="EAF8E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371600"/>
            <a:ext cx="64008" cy="475488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17904"/>
            <a:ext cx="33558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ALLOW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938528"/>
            <a:ext cx="3355848" cy="40782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26174"/>
                </a:solidFill>
                <a:latin typeface="Aptos"/>
              </a:rPr>
              <a:t>Short-lived lease. Rate slot reserved. Collectors may run with the identified research User-Agent on a permitted path.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71600"/>
            <a:ext cx="3703320" cy="475488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371600"/>
            <a:ext cx="64008" cy="475488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517904"/>
            <a:ext cx="33558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DENY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1938528"/>
            <a:ext cx="3355848" cy="40782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26174"/>
                </a:solidFill>
                <a:latin typeface="Aptos"/>
              </a:rPr>
              <a:t>No collector runs. Job status = denied. Result = policy_denied.
Triggers: disabled source, automation_allowed=false, robots unreadable or disallowed, quota exhausted, 403/CAPTCHA circuit, mock source while live.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4464" y="1371600"/>
            <a:ext cx="3328416" cy="4754880"/>
          </a:xfrm>
          <a:prstGeom prst="roundRect">
            <a:avLst>
              <a:gd name="adj" fmla="val 12000"/>
            </a:avLst>
          </a:prstGeom>
          <a:solidFill>
            <a:srgbClr val="FFF6E5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84464" y="1371600"/>
            <a:ext cx="64008" cy="475488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1517904"/>
            <a:ext cx="298094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REVIEW 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1938528"/>
            <a:ext cx="2980944" cy="40782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26174"/>
                </a:solidFill>
                <a:latin typeface="Aptos"/>
              </a:rPr>
              <a:t>Terms or robots review missing or stale. Same stop as DENY. Written review is required before automation is switched 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749807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A6A6"/>
                </a:solidFill>
                <a:latin typeface="Aptos"/>
              </a:rPr>
              <a:t>COLLECTION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493776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B1F3A"/>
                </a:solidFill>
                <a:latin typeface="Aptos"/>
              </a:rPr>
              <a:t>How to read denied / policy_denied /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15568"/>
            <a:ext cx="658368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4937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18096"/>
                </a:solidFill>
                <a:latin typeface="Aptos"/>
              </a:rPr>
              <a:t>APIx • SIH26056 • 20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18096"/>
                </a:solidFill>
                <a:latin typeface="Apto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280160"/>
            <a:ext cx="10972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26174"/>
                </a:solidFill>
                <a:latin typeface="Aptos"/>
              </a:rPr>
              <a:t>This row is correct behaviour, not a broken scrape.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1737360"/>
            <a:ext cx="2011680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1737360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When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96896" y="1737360"/>
            <a:ext cx="1920240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6896" y="173736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Query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17136" y="1737360"/>
            <a:ext cx="1554480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73736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1616" y="1737360"/>
            <a:ext cx="2103120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71616" y="173736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Result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4736" y="1737360"/>
            <a:ext cx="1463040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173736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Label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" y="2121408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2121408"/>
            <a:ext cx="2011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20 Sept 2026, 8:21 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96896" y="2121408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96896" y="2121408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DEL-BOM T+7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17136" y="2121408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7136" y="2121408"/>
            <a:ext cx="1554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denied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71616" y="2121408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71616" y="2121408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policy_denied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74736" y="2121408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2121408"/>
            <a:ext cx="1463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live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5216" y="2788920"/>
            <a:ext cx="5532120" cy="333756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85216" y="2788920"/>
            <a:ext cx="64008" cy="333756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2935224"/>
            <a:ext cx="51846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What each field means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3355848"/>
            <a:ext cx="5184648" cy="26609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26174"/>
                </a:solidFill>
                <a:latin typeface="Aptos"/>
              </a:rPr>
              <a:t>Status denied — JobStatus.DENIED; the governor stopped the job.
Result policy_denied — typed CollectionStatus; no adapter continued.
Label live — APIX_DATA_MODE=live. Mock fares were not substituted.
Causes: denied OTA, unreadable robots, review_required terms, prior 403/CAPTCHA, or mock asked for while live.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2788920"/>
            <a:ext cx="5303520" cy="3337560"/>
          </a:xfrm>
          <a:prstGeom prst="roundRect">
            <a:avLst>
              <a:gd name="adj" fmla="val 12000"/>
            </a:avLst>
          </a:prstGeom>
          <a:solidFill>
            <a:srgbClr val="EAF8E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09360" y="2788920"/>
            <a:ext cx="64008" cy="333756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2935224"/>
            <a:ext cx="4956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What to do next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3355848"/>
            <a:ext cx="4956048" cy="26609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26174"/>
                </a:solidFill>
                <a:latin typeface="Aptos"/>
              </a:rPr>
              <a:t>Do not “fix” the denial with simulated fares.
Select EaseMyTrip (approved OTA) on the same DEL–BOM T+7 query. A later success row can sit beside this denial. The published index uses only live, quality-accepted quotes.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749807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A6A6"/>
                </a:solidFill>
                <a:latin typeface="Aptos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493776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B1F3A"/>
                </a:solidFill>
                <a:latin typeface="Aptos"/>
              </a:rPr>
              <a:t>Source catalog — reviewed 20 Sep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15568"/>
            <a:ext cx="658368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4937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18096"/>
                </a:solidFill>
                <a:latin typeface="Aptos"/>
              </a:rPr>
              <a:t>APIx • SIH26056 • 20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18096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325880"/>
            <a:ext cx="5532120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325880"/>
            <a:ext cx="64008" cy="3063240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72184"/>
            <a:ext cx="51846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OTA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892808"/>
            <a:ext cx="5184648" cy="23865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26174"/>
                </a:solidFill>
                <a:latin typeface="Aptos"/>
              </a:rPr>
              <a:t>EaseMyTrip — APPROVED for anonymous public search (robots Allow *).
MakeMyTrip, Cleartrip, ixigo — DENIED by terms.
Yatra, Goibibo — REVIEW REQUIRED; automation off.
Denied sources stay visible on Source health and cannot be selected in the collection console.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303520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64008" cy="3063240"/>
          </a:xfrm>
          <a:prstGeom prst="roundRect">
            <a:avLst>
              <a:gd name="adj" fmla="val 12000"/>
            </a:avLst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472184"/>
            <a:ext cx="4956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Airline plugins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892808"/>
            <a:ext cx="4956048" cy="23865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26174"/>
                </a:solidFill>
                <a:latin typeface="Aptos"/>
              </a:rPr>
              <a:t>IndiGo, Air India, Air India Express, Akasa, SpiceJet, Star Air, Alliance Air.
Live robots.txt is still fetched fail-closed. Yield is source-limited. EaseMyTrip is the reliable permitted source for a live demo.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" y="4572000"/>
            <a:ext cx="11018520" cy="1554480"/>
          </a:xfrm>
          <a:prstGeom prst="roundRect">
            <a:avLst>
              <a:gd name="adj" fmla="val 12000"/>
            </a:avLst>
          </a:prstGeom>
          <a:solidFill>
            <a:srgbClr val="EEF4FA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5216" y="4572000"/>
            <a:ext cx="64008" cy="155448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10671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Identified User-Agent (never spoof a consumer browser)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5138928"/>
            <a:ext cx="10671048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26174"/>
                </a:solidFill>
                <a:latin typeface="Aptos"/>
              </a:rPr>
              <a:t>APIx-Research-Bot/0.1 (+https://www.mospi.gov.in; SIH26056 airfare index research)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749807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A6A6"/>
                </a:solidFill>
                <a:latin typeface="Aptos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493776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B1F3A"/>
                </a:solidFill>
                <a:latin typeface="Aptos"/>
              </a:rPr>
              <a:t>APIx-T methodology v1.0.0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15568"/>
            <a:ext cx="658368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4937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18096"/>
                </a:solidFill>
                <a:latin typeface="Aptos"/>
              </a:rPr>
              <a:t>APIx • SIH26056 • 20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18096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325880"/>
            <a:ext cx="3703320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325880"/>
            <a:ext cx="64008" cy="3108960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72184"/>
            <a:ext cx="33558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Jevons elementary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892808"/>
            <a:ext cx="3355848" cy="2432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26174"/>
                </a:solidFill>
                <a:latin typeface="Aptos"/>
              </a:rPr>
              <a:t>Geometric mean of matched price relatives. Money is Decimal. First period = 100. Late entrants are not chain-linked.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25880"/>
            <a:ext cx="3703320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325880"/>
            <a:ext cx="64008" cy="3108960"/>
          </a:xfrm>
          <a:prstGeom prst="roundRect">
            <a:avLst>
              <a:gd name="adj" fmla="val 12000"/>
            </a:avLst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472184"/>
            <a:ext cx="33558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Availability blend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1892808"/>
            <a:ext cx="3355848" cy="2432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26174"/>
                </a:solidFill>
                <a:latin typeface="Aptos"/>
              </a:rPr>
              <a:t>I_adj = I_matched^A · I_LAF^(1−A). At A=1 this equals the matched index. Sold-out quotes do not invent prices.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4464" y="1325880"/>
            <a:ext cx="3328416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84464" y="1325880"/>
            <a:ext cx="64008" cy="310896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1472184"/>
            <a:ext cx="298094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Young aggregation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1892808"/>
            <a:ext cx="2980944" cy="2432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26174"/>
                </a:solidFill>
                <a:latin typeface="Aptos"/>
              </a:rPr>
              <a:t>Weighted arithmetic mean of surviving cells, then routes, then T+ windows. Unmatched weight is redistributed.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" y="4663440"/>
            <a:ext cx="21945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4773168"/>
            <a:ext cx="1975104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0B1F3A"/>
                </a:solidFill>
                <a:latin typeface="Aptos"/>
              </a:rPr>
              <a:t>5 routes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5193792"/>
            <a:ext cx="1975104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526174"/>
                </a:solidFill>
                <a:latin typeface="Aptos"/>
              </a:rPr>
              <a:t>SEED BASKET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4663440"/>
            <a:ext cx="21945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35808" y="4773168"/>
            <a:ext cx="1975104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00A6A6"/>
                </a:solidFill>
                <a:latin typeface="Aptos"/>
              </a:rPr>
              <a:t>T+1…45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35808" y="5193792"/>
            <a:ext cx="1975104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526174"/>
                </a:solidFill>
                <a:latin typeface="Aptos"/>
              </a:rPr>
              <a:t>OFFICIAL WINDOWS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66944" y="4663440"/>
            <a:ext cx="21945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76672" y="4773168"/>
            <a:ext cx="1975104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6A34A"/>
                </a:solidFill>
                <a:latin typeface="Aptos"/>
              </a:rPr>
              <a:t>n_min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6672" y="5193792"/>
            <a:ext cx="1975104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526174"/>
                </a:solidFill>
                <a:latin typeface="Aptos"/>
              </a:rPr>
              <a:t>CELL GATE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07808" y="4663440"/>
            <a:ext cx="21945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17536" y="4773168"/>
            <a:ext cx="1975104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59E0B"/>
                </a:solidFill>
                <a:latin typeface="Aptos"/>
              </a:rPr>
              <a:t>ω uniform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17536" y="5193792"/>
            <a:ext cx="1975104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526174"/>
                </a:solidFill>
                <a:latin typeface="Aptos"/>
              </a:rPr>
              <a:t>LEAD PRESET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06440"/>
            <a:ext cx="10972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26174"/>
                </a:solidFill>
                <a:latin typeface="Aptos"/>
              </a:rPr>
              <a:t>Basket: DEL-BOM, BOM-DEL, DEL-BLR, BOM-BLR, DEL-HYD   •   Weights: equal_seed until DGCA file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749807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A6A6"/>
                </a:solidFill>
                <a:latin typeface="Aptos"/>
              </a:rPr>
              <a:t>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493776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B1F3A"/>
                </a:solidFill>
                <a:latin typeface="Aptos"/>
              </a:rPr>
              <a:t>Immutable ledger and quality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15568"/>
            <a:ext cx="658368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4937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18096"/>
                </a:solidFill>
                <a:latin typeface="Aptos"/>
              </a:rPr>
              <a:t>APIx • SIH26056 • 20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18096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325880"/>
            <a:ext cx="5532120" cy="4800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325880"/>
            <a:ext cx="64008" cy="480060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72184"/>
            <a:ext cx="51846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Append-only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892808"/>
            <a:ext cx="5184648" cy="4123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26174"/>
                </a:solidFill>
                <a:latin typeface="Aptos"/>
              </a:rPr>
              <a:t>Raw payloads, normalised fares, components, validation flags, and provenance links reject UPDATE/DELETE.
Corrections insert a new row and set supersedes_id.
Each entity carries a SHA-256 content hash. Publication runs store input and output hashes shown on the methodology page.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303520" cy="4800600"/>
          </a:xfrm>
          <a:prstGeom prst="roundRect">
            <a:avLst>
              <a:gd name="adj" fmla="val 12000"/>
            </a:avLst>
          </a:prstGeom>
          <a:solidFill>
            <a:srgbClr val="FFF6E5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64008" cy="48006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472184"/>
            <a:ext cx="4956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Publication dispositions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892808"/>
            <a:ext cx="4956048" cy="4123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26174"/>
                </a:solidFill>
                <a:latin typeface="Aptos"/>
              </a:rPr>
              <a:t>ACCEPTED — enters the index.
WINSORISED — Tukey/Hampel adjusted; still publishable.
QUARANTINED — sold-out, stale, or suspect; kept in the ledger.
EXCLUDED — does not enter APIx-T.
Live and mock series are selected by data mode. They are never blended.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749807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A6A6"/>
                </a:solidFill>
                <a:latin typeface="Aptos"/>
              </a:rPr>
              <a:t>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493776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B1F3A"/>
                </a:solidFill>
                <a:latin typeface="Aptos"/>
              </a:rPr>
              <a:t>Operator dashboard and NSO/RBI APIs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15568"/>
            <a:ext cx="658368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4937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18096"/>
                </a:solidFill>
                <a:latin typeface="Aptos"/>
              </a:rPr>
              <a:t>APIx • SIH26056 • 20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18096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325880"/>
            <a:ext cx="5532120" cy="4800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325880"/>
            <a:ext cx="64008" cy="4800600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72184"/>
            <a:ext cx="51846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http://localhost:5173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892808"/>
            <a:ext cx="5184648" cy="4123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26174"/>
                </a:solidFill>
                <a:latin typeface="Aptos"/>
              </a:rPr>
              <a:t>Index trend — level, coverage %, 90% interval.
Heatmap — route × T+; blanks are coverage gaps.
Elasticity — log-log across official windows.
Fares — INR, live vs simulated chip.
Sources — terms, robots, circuits.
Collection — permitted source picker, job ledger.
Methodology — versions and hashes.
Back-test — unavailable until official files.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303520" cy="4800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64008" cy="4800600"/>
          </a:xfrm>
          <a:prstGeom prst="roundRect">
            <a:avLst>
              <a:gd name="adj" fmla="val 12000"/>
            </a:avLst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472184"/>
            <a:ext cx="4956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http://localhost:8000  •  X-API-Key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892808"/>
            <a:ext cx="4956048" cy="4123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26174"/>
                </a:solidFill>
                <a:latin typeface="Aptos"/>
              </a:rPr>
              <a:t>GET /health  /v1/status  /v1/index  /v1/coverage
GET /v1/elasticity  /v1/methodology  /v1/provenance
GET /v1/exports/index.csv  .sdmx.json
POST /collection-jobs  /v1/index/publish
GET /fares/latest  /v1/backtest
OpenAPI at /docs. Live payloads set is_simulated=false.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749807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A6A6"/>
                </a:solidFill>
                <a:latin typeface="Aptos"/>
              </a:rPr>
              <a:t>DATA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493776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B1F3A"/>
                </a:solidFill>
                <a:latin typeface="Aptos"/>
              </a:rPr>
              <a:t>Live and mock are isolated modes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15568"/>
            <a:ext cx="658368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4937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18096"/>
                </a:solidFill>
                <a:latin typeface="Aptos"/>
              </a:rPr>
              <a:t>APIx • SIH26056 • 20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18096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325880"/>
            <a:ext cx="5532120" cy="4800600"/>
          </a:xfrm>
          <a:prstGeom prst="roundRect">
            <a:avLst>
              <a:gd name="adj" fmla="val 12000"/>
            </a:avLst>
          </a:prstGeom>
          <a:solidFill>
            <a:srgbClr val="EAF8E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325880"/>
            <a:ext cx="64008" cy="480060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72184"/>
            <a:ext cx="51846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LIVE (presentation default)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892808"/>
            <a:ext cx="5184648" cy="4123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26174"/>
                </a:solidFill>
                <a:latin typeface="Aptos"/>
              </a:rPr>
              <a:t>Green banner. MockFareSource is disabled.
Publisher reads only non-simulated quotes.
EaseMyTrip is the approved OTA collectable.
Denied OTAs remain visible, not selectable.
A policy_denied job stays empty — no fixture fill.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303520" cy="4800600"/>
          </a:xfrm>
          <a:prstGeom prst="roundRect">
            <a:avLst>
              <a:gd name="adj" fmla="val 12000"/>
            </a:avLst>
          </a:prstGeom>
          <a:solidFill>
            <a:srgbClr val="FFF6E5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64008" cy="48006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472184"/>
            <a:ext cx="4956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MOCK (offline fallback)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892808"/>
            <a:ext cx="4956048" cy="4123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26174"/>
                </a:solidFill>
                <a:latin typeface="Aptos"/>
              </a:rPr>
              <a:t>Amber banner: SIMULATED DATA — not measurements of Indian airfares.
docker compose up --build with APIX_DATA_MODE=mock.
Use only when live sites are unreachable. Never present mock numbers as official APIx.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749807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A6A6"/>
                </a:solidFill>
                <a:latin typeface="Aptos"/>
              </a:rPr>
              <a:t>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493776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B1F3A"/>
                </a:solidFill>
                <a:latin typeface="Aptos"/>
              </a:rPr>
              <a:t>Setup completed — laptop 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15568"/>
            <a:ext cx="658368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4937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18096"/>
                </a:solidFill>
                <a:latin typeface="Aptos"/>
              </a:rPr>
              <a:t>APIx • SIH26056 • 20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18096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325880"/>
            <a:ext cx="6720840" cy="4800600"/>
          </a:xfrm>
          <a:prstGeom prst="roundRect">
            <a:avLst>
              <a:gd name="adj" fmla="val 12000"/>
            </a:avLst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435608"/>
            <a:ext cx="6355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8BB8E8"/>
                </a:solidFill>
                <a:latin typeface="Aptos"/>
              </a:rPr>
              <a:t>POWERSHELL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764792"/>
            <a:ext cx="6355080" cy="42702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E9F2FF"/>
                </a:solidFill>
                <a:latin typeface="Consolas"/>
              </a:rPr>
              <a:t>cd backend
python -m pip install -e ".[live,test,docs]"
python -m playwright install chromium
$env:APIX_DATA_MODE="live"; $env:APIX_EGRESS_MODE="direct"
$env:APIX_API_KEY="change-me"
$env:APIX_DATABASE_URL="sqlite+aiosqlite:///./data/apix-live-demo.db"
python scripts\live_demo.py
python -m uvicorn app.main:app --host 127.0.0.1 --port 8000
cd frontend; npm install; npm run dev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325880"/>
            <a:ext cx="4114800" cy="4800600"/>
          </a:xfrm>
          <a:prstGeom prst="roundRect">
            <a:avLst>
              <a:gd name="adj" fmla="val 12000"/>
            </a:avLst>
          </a:prstGeom>
          <a:solidFill>
            <a:srgbClr val="EAF8E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79" y="1325880"/>
            <a:ext cx="64008" cy="480060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7" y="1472184"/>
            <a:ext cx="376732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Verified 20 Sep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7" y="1892808"/>
            <a:ext cx="3767328" cy="4123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26174"/>
                </a:solidFill>
                <a:latin typeface="Aptos"/>
              </a:rPr>
              <a:t>EaseMyTrip DEL–BOM T+7
130 live observations
0 simulated
APIx-T 100.00
Coverage 24%
First period base = 100
Dashboard :5173  •  API :8000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749807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A6A6"/>
                </a:solidFill>
                <a:latin typeface="Aptos"/>
              </a:rPr>
              <a:t>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493776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B1F3A"/>
                </a:solidFill>
                <a:latin typeface="Aptos"/>
              </a:rPr>
              <a:t>Setup completed — Docker mock and live overlay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15568"/>
            <a:ext cx="658368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4937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18096"/>
                </a:solidFill>
                <a:latin typeface="Aptos"/>
              </a:rPr>
              <a:t>APIx • SIH26056 • 20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18096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325880"/>
            <a:ext cx="11018520" cy="3063240"/>
          </a:xfrm>
          <a:prstGeom prst="roundRect">
            <a:avLst>
              <a:gd name="adj" fmla="val 12000"/>
            </a:avLst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435608"/>
            <a:ext cx="10652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8BB8E8"/>
                </a:solidFill>
                <a:latin typeface="Aptos"/>
              </a:rPr>
              <a:t>COMPOSE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764792"/>
            <a:ext cx="10652760" cy="2532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9F2FF"/>
                </a:solidFill>
                <a:latin typeface="Consolas"/>
              </a:rPr>
              <a:t># Safe default (simulated fares, labelled)
docker compose up --build
# Live presentation (Chromium in worker + API)
docker compose -f docker-compose.yml -f docker-compose.live.yml up --build
# Optional daily EaseMyTrip basket — do not use for a short demo
docker compose -f docker-compose.yml -f docker-compose.live.yml --profile live-schedule 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4572000"/>
            <a:ext cx="1101852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5216" y="4572000"/>
            <a:ext cx="64008" cy="1554480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4718304"/>
            <a:ext cx="10671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Live overlay behaviour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5138928"/>
            <a:ext cx="10671048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26174"/>
                </a:solidFill>
                <a:latin typeface="Aptos"/>
              </a:rPr>
              <a:t>APIX_DATA_MODE=live. Scheduler is off unless live-schedule. Collect from the dashboard. shm_size=1gb for Chromium. Mock source seeded disabled.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749807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A6A6"/>
                </a:solidFill>
                <a:latin typeface="Aptos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493776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B1F3A"/>
                </a:solidFill>
                <a:latin typeface="Aptos"/>
              </a:rPr>
              <a:t>Operator sequence for a live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15568"/>
            <a:ext cx="658368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4937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18096"/>
                </a:solidFill>
                <a:latin typeface="Aptos"/>
              </a:rPr>
              <a:t>APIx • SIH26056 • 20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18096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53312"/>
            <a:ext cx="438912" cy="310896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67028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371600"/>
            <a:ext cx="101498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ptos"/>
              </a:rPr>
              <a:t>Confirm /health → data_mode=live, is_simulated=false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03120"/>
            <a:ext cx="438912" cy="310896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16836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121408"/>
            <a:ext cx="101498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72033"/>
                </a:solidFill>
                <a:latin typeface="Aptos"/>
              </a:rPr>
              <a:t>Source health — EaseMyTrip approved; MMT/Cleartrip/ixigo denied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852928"/>
            <a:ext cx="438912" cy="310896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866644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871216"/>
            <a:ext cx="101498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ptos"/>
              </a:rPr>
              <a:t>Collect EaseMyTrip DEL-BOM T+7 (or explain a policy_denied row)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02736"/>
            <a:ext cx="438912" cy="310896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61645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621024"/>
            <a:ext cx="101498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72033"/>
                </a:solidFill>
                <a:latin typeface="Aptos"/>
              </a:rPr>
              <a:t>Fare drill-down — INR, live chip, no simulated flag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352544"/>
            <a:ext cx="438912" cy="310896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366260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370832"/>
            <a:ext cx="101498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72033"/>
                </a:solidFill>
                <a:latin typeface="Aptos"/>
              </a:rPr>
              <a:t>Publish index — trend 100.00, coverage honest and 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102352"/>
            <a:ext cx="438912" cy="310896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116068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120640"/>
            <a:ext cx="101498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72033"/>
                </a:solidFill>
                <a:latin typeface="Aptos"/>
              </a:rPr>
              <a:t>Methodology hashes + back-test unavailable without official files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749807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A6A6"/>
                </a:solidFill>
                <a:latin typeface="Aptos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493776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B1F3A"/>
                </a:solidFill>
                <a:latin typeface="Aptos"/>
              </a:rPr>
              <a:t>Evidence already on disk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15568"/>
            <a:ext cx="658368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4937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18096"/>
                </a:solidFill>
                <a:latin typeface="Aptos"/>
              </a:rPr>
              <a:t>APIx • SIH26056 • 20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18096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371600"/>
            <a:ext cx="36576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81328"/>
            <a:ext cx="3438144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473E6"/>
                </a:solidFill>
                <a:latin typeface="Aptos"/>
              </a:rPr>
              <a:t>1,823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901952"/>
            <a:ext cx="3438144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526174"/>
                </a:solidFill>
                <a:latin typeface="Aptos"/>
              </a:rPr>
              <a:t>EMA OTA FARES (15/15 CELLS)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371600"/>
            <a:ext cx="36576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481328"/>
            <a:ext cx="3438144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6A34A"/>
                </a:solidFill>
                <a:latin typeface="Aptos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901952"/>
            <a:ext cx="3438144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526174"/>
                </a:solidFill>
                <a:latin typeface="Aptos"/>
              </a:rPr>
              <a:t>SIMULATED IN THAT MATRIX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84464" y="1371600"/>
            <a:ext cx="3328416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481328"/>
            <a:ext cx="310896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00A6A6"/>
                </a:solidFill>
                <a:latin typeface="Aptos"/>
              </a:rPr>
              <a:t>130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1901952"/>
            <a:ext cx="31089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526174"/>
                </a:solidFill>
                <a:latin typeface="Aptos"/>
              </a:rPr>
              <a:t>LIVE DEMO CELL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2606040"/>
            <a:ext cx="1101852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5216" y="2606040"/>
            <a:ext cx="64008" cy="347472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752344"/>
            <a:ext cx="10671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Machine-readable artifacts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3172968"/>
            <a:ext cx="10671048" cy="2798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26174"/>
                </a:solidFill>
                <a:latin typeface="Aptos"/>
              </a:rPr>
              <a:t>backend/data/ota-policy-review.json — live robots/terms review
backend/data/ota-live-run-report.json — OTA matrix including policy denials for MMT/Cleartrip/ixigo
backend/data/live-demo-report.json — one-cell EaseMyTrip collect + publish
backend/data/apix-live-demo.db — presentation SQLite ledger
docs/ota-source-review.md — human-readable decisions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749807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A6A6"/>
                </a:solidFill>
                <a:latin typeface="Aptos"/>
              </a:rP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493776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B1F3A"/>
                </a:solidFill>
                <a:latin typeface="Aptos"/>
              </a:rPr>
              <a:t>Verification — tests never hit airline sites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15568"/>
            <a:ext cx="658368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4937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18096"/>
                </a:solidFill>
                <a:latin typeface="Aptos"/>
              </a:rPr>
              <a:t>APIx • SIH26056 • 20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18096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325880"/>
            <a:ext cx="5669280" cy="3017520"/>
          </a:xfrm>
          <a:prstGeom prst="roundRect">
            <a:avLst>
              <a:gd name="adj" fmla="val 12000"/>
            </a:avLst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435608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8BB8E8"/>
                </a:solidFill>
                <a:latin typeface="Aptos"/>
              </a:rPr>
              <a:t>COMMANDS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764792"/>
            <a:ext cx="5303520" cy="2487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9F2FF"/>
                </a:solidFill>
                <a:latin typeface="Consolas"/>
              </a:rPr>
              <a:t>cd backend
pytest
cd frontend
npm test
python scripts\generate_usage_presentation.py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325880"/>
            <a:ext cx="5166360" cy="3017520"/>
          </a:xfrm>
          <a:prstGeom prst="roundRect">
            <a:avLst>
              <a:gd name="adj" fmla="val 12000"/>
            </a:avLst>
          </a:prstGeom>
          <a:solidFill>
            <a:srgbClr val="EAF8E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325880"/>
            <a:ext cx="64008" cy="301752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472184"/>
            <a:ext cx="481888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What tests 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1892808"/>
            <a:ext cx="4818888" cy="2340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26174"/>
                </a:solidFill>
                <a:latin typeface="Aptos"/>
              </a:rPr>
              <a:t>Governor, parsers vs fixtures, index math, API jobs, mock isolation, live-mode mock disable, no-circumvention guard, dashboard banner and number formatting.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" y="4526280"/>
            <a:ext cx="11018520" cy="1600200"/>
          </a:xfrm>
          <a:prstGeom prst="roundRect">
            <a:avLst>
              <a:gd name="adj" fmla="val 12000"/>
            </a:avLst>
          </a:prstGeom>
          <a:solidFill>
            <a:srgbClr val="FFF6E5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5216" y="4526280"/>
            <a:ext cx="64008" cy="16002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4672584"/>
            <a:ext cx="106710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Official files when you have them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5093208"/>
            <a:ext cx="10671048" cy="9235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26174"/>
                </a:solidFill>
                <a:latin typeface="Aptos"/>
              </a:rPr>
              <a:t>python -m app.cli import-dgca FILE --source-url URL   •   import-cpi   •   run-index   •   backtest --comparator dgca. Never paste invented official numbers.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7498079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A6A6"/>
                </a:solidFill>
                <a:latin typeface="Aptos"/>
              </a:rPr>
              <a:t>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493776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B1F3A"/>
                </a:solidFill>
                <a:latin typeface="Aptos"/>
              </a:rPr>
              <a:t>Honest remaining gaps — say these to judges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115568"/>
            <a:ext cx="658368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4937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18096"/>
                </a:solidFill>
                <a:latin typeface="Aptos"/>
              </a:rPr>
              <a:t>APIx • SIH26056 • 20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18096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325880"/>
            <a:ext cx="3611880" cy="2194560"/>
          </a:xfrm>
          <a:prstGeom prst="roundRect">
            <a:avLst>
              <a:gd name="adj" fmla="val 12000"/>
            </a:avLst>
          </a:prstGeom>
          <a:solidFill>
            <a:srgbClr val="FFF6E5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325880"/>
            <a:ext cx="64008" cy="219456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72184"/>
            <a:ext cx="326440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Aptos"/>
              </a:rPr>
              <a:t>30-day series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892808"/>
            <a:ext cx="3264408" cy="15179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26174"/>
                </a:solidFill>
                <a:latin typeface="Aptos"/>
              </a:rPr>
              <a:t>A one-cell live collect is not a month of APIx-T.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325880"/>
            <a:ext cx="3611880" cy="2194560"/>
          </a:xfrm>
          <a:prstGeom prst="roundRect">
            <a:avLst>
              <a:gd name="adj" fmla="val 12000"/>
            </a:avLst>
          </a:prstGeom>
          <a:solidFill>
            <a:srgbClr val="FFF6E5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9976" y="1325880"/>
            <a:ext cx="64008" cy="219456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1472184"/>
            <a:ext cx="326440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Aptos"/>
              </a:rPr>
              <a:t>DGCA / CPI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1892808"/>
            <a:ext cx="3264408" cy="15179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26174"/>
                </a:solidFill>
                <a:latin typeface="Aptos"/>
              </a:rPr>
              <a:t>Back-test stays unavailable until checksummed public files are imported.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325880"/>
            <a:ext cx="3611880" cy="2194560"/>
          </a:xfrm>
          <a:prstGeom prst="roundRect">
            <a:avLst>
              <a:gd name="adj" fmla="val 12000"/>
            </a:avLst>
          </a:prstGeom>
          <a:solidFill>
            <a:srgbClr val="FFF6E5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74736" y="1325880"/>
            <a:ext cx="64008" cy="219456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1472184"/>
            <a:ext cx="326440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Aptos"/>
              </a:rPr>
              <a:t>SIH portal pack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1892808"/>
            <a:ext cx="3264408" cy="15179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26174"/>
                </a:solidFill>
                <a:latin typeface="Aptos"/>
              </a:rPr>
              <a:t>Idea PPT template, 3–5 min video, team ID, public GitHub, consent.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" y="3703320"/>
            <a:ext cx="3611880" cy="2194560"/>
          </a:xfrm>
          <a:prstGeom prst="roundRect">
            <a:avLst>
              <a:gd name="adj" fmla="val 12000"/>
            </a:avLst>
          </a:prstGeom>
          <a:solidFill>
            <a:srgbClr val="FFF6E5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85216" y="3703320"/>
            <a:ext cx="64008" cy="219456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849624"/>
            <a:ext cx="326440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Aptos"/>
              </a:rPr>
              <a:t>Full basket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270248"/>
            <a:ext cx="3264408" cy="15179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26174"/>
                </a:solidFill>
                <a:latin typeface="Aptos"/>
              </a:rPr>
              <a:t>Five routes × five windows; one cell is ~24% coverage.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9976" y="3703320"/>
            <a:ext cx="3611880" cy="2194560"/>
          </a:xfrm>
          <a:prstGeom prst="roundRect">
            <a:avLst>
              <a:gd name="adj" fmla="val 12000"/>
            </a:avLst>
          </a:prstGeom>
          <a:solidFill>
            <a:srgbClr val="FFF6E5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79976" y="3703320"/>
            <a:ext cx="64008" cy="219456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81144" y="3849624"/>
            <a:ext cx="326440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Aptos"/>
              </a:rPr>
              <a:t>Airline yield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1144" y="4270248"/>
            <a:ext cx="3264408" cy="15179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26174"/>
                </a:solidFill>
                <a:latin typeface="Aptos"/>
              </a:rPr>
              <a:t>Several carrier sites return typed empty/denied under identified UA.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74736" y="3703320"/>
            <a:ext cx="3611880" cy="2194560"/>
          </a:xfrm>
          <a:prstGeom prst="roundRect">
            <a:avLst>
              <a:gd name="adj" fmla="val 12000"/>
            </a:avLst>
          </a:prstGeom>
          <a:solidFill>
            <a:srgbClr val="FFF6E5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74736" y="3703320"/>
            <a:ext cx="64008" cy="219456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75904" y="3849624"/>
            <a:ext cx="326440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Aptos"/>
              </a:rPr>
              <a:t>OTA letters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4270248"/>
            <a:ext cx="3264408" cy="15179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26174"/>
                </a:solidFill>
                <a:latin typeface="Aptos"/>
              </a:rPr>
              <a:t>MMT, Cleartrip, ixigo stay denied without written permission.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"/>
              </a:rPr>
              <a:t>Ready to demonstrate APIx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0584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9BED3"/>
                </a:solidFill>
                <a:latin typeface="Aptos"/>
              </a:rPr>
              <a:t>Live, labelled, fail-closed — coverage and denials are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2011680"/>
            <a:ext cx="3246120" cy="1051560"/>
          </a:xfrm>
          <a:prstGeom prst="roundRect">
            <a:avLst>
              <a:gd name="adj" fmla="val 12000"/>
            </a:avLst>
          </a:prstGeom>
          <a:solidFill>
            <a:srgbClr val="122D4F"/>
          </a:solidFill>
          <a:ln w="12700">
            <a:solidFill>
              <a:srgbClr val="29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340864"/>
            <a:ext cx="438912" cy="310896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4580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2331720"/>
            <a:ext cx="2331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Start live mode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2011680"/>
            <a:ext cx="3246120" cy="1051560"/>
          </a:xfrm>
          <a:prstGeom prst="roundRect">
            <a:avLst>
              <a:gd name="adj" fmla="val 12000"/>
            </a:avLst>
          </a:prstGeom>
          <a:solidFill>
            <a:srgbClr val="122D4F"/>
          </a:solidFill>
          <a:ln w="12700">
            <a:solidFill>
              <a:srgbClr val="29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99432" y="2340864"/>
            <a:ext cx="438912" cy="310896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2354580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331720"/>
            <a:ext cx="2331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Show EaseMyTrip success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011680"/>
            <a:ext cx="3246120" cy="1051560"/>
          </a:xfrm>
          <a:prstGeom prst="roundRect">
            <a:avLst>
              <a:gd name="adj" fmla="val 12000"/>
            </a:avLst>
          </a:prstGeom>
          <a:solidFill>
            <a:srgbClr val="122D4F"/>
          </a:solidFill>
          <a:ln w="12700">
            <a:solidFill>
              <a:srgbClr val="29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84464" y="2340864"/>
            <a:ext cx="438912" cy="310896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2354580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1392" y="2331720"/>
            <a:ext cx="2331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Explain policy_denied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337560"/>
            <a:ext cx="3246120" cy="1051560"/>
          </a:xfrm>
          <a:prstGeom prst="roundRect">
            <a:avLst>
              <a:gd name="adj" fmla="val 12000"/>
            </a:avLst>
          </a:prstGeom>
          <a:solidFill>
            <a:srgbClr val="122D4F"/>
          </a:solidFill>
          <a:ln w="12700">
            <a:solidFill>
              <a:srgbClr val="29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3666744"/>
            <a:ext cx="438912" cy="310896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680460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3657600"/>
            <a:ext cx="2331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Publish APIx-T 100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53128" y="3337560"/>
            <a:ext cx="3246120" cy="1051560"/>
          </a:xfrm>
          <a:prstGeom prst="roundRect">
            <a:avLst>
              <a:gd name="adj" fmla="val 12000"/>
            </a:avLst>
          </a:prstGeom>
          <a:solidFill>
            <a:srgbClr val="122D4F"/>
          </a:solidFill>
          <a:ln w="12700">
            <a:solidFill>
              <a:srgbClr val="29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99432" y="3666744"/>
            <a:ext cx="438912" cy="310896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3680460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657600"/>
            <a:ext cx="2331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Show hashes + 24%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337560"/>
            <a:ext cx="3246120" cy="1051560"/>
          </a:xfrm>
          <a:prstGeom prst="roundRect">
            <a:avLst>
              <a:gd name="adj" fmla="val 12000"/>
            </a:avLst>
          </a:prstGeom>
          <a:solidFill>
            <a:srgbClr val="122D4F"/>
          </a:solidFill>
          <a:ln w="12700">
            <a:solidFill>
              <a:srgbClr val="29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84464" y="3666744"/>
            <a:ext cx="438912" cy="310896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4464" y="3680460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392" y="3657600"/>
            <a:ext cx="2331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State remaining gaps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983480"/>
            <a:ext cx="105156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8D6E5"/>
                </a:solidFill>
                <a:latin typeface="Consolas"/>
              </a:rPr>
              <a:t>docs/APIx-Project-Usage-Guide.md   •   docs/APIx-Project-Usage-Guide.pptx   •   http://localhost:5173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6126480"/>
            <a:ext cx="10058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891AB"/>
                </a:solidFill>
                <a:latin typeface="Aptos"/>
              </a:rPr>
              <a:t>APIx  •  Real-Time Airfare Price Index for India  •  SIH26056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APIx — System built and setup completed</dc:title>
  <dc:subject>SIH26056 Real-Time Airfare Price Index for India</dc:subject>
  <dc:creator>APIx — SIH 2026</dc:creator>
  <cp:keywords>APIx, SIH26056, MoSPI, airfare index, compliance, live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